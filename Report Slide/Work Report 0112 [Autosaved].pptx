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00" r:id="rId3"/>
    <p:sldId id="301" r:id="rId4"/>
    <p:sldId id="302" r:id="rId5"/>
    <p:sldId id="305" r:id="rId6"/>
    <p:sldId id="306" r:id="rId7"/>
    <p:sldId id="303" r:id="rId8"/>
    <p:sldId id="307" r:id="rId9"/>
    <p:sldId id="308" r:id="rId10"/>
    <p:sldId id="304" r:id="rId11"/>
    <p:sldId id="309" r:id="rId12"/>
    <p:sldId id="310" r:id="rId13"/>
    <p:sldId id="311" r:id="rId14"/>
    <p:sldId id="312" r:id="rId15"/>
    <p:sldId id="313" r:id="rId16"/>
    <p:sldId id="315" r:id="rId17"/>
    <p:sldId id="316" r:id="rId18"/>
    <p:sldId id="31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19FFE-20E4-4B0A-9E56-B3B51EAD1809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3D126-FDE2-4637-BCF0-0FAA9530A1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7918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47" name="Google Shape;47;p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A60AF7D-1A52-4ABE-E944-C238EEC6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D86A4B3-6537-C8BB-0C0F-0D9229770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87D8A11-2F7C-4383-B434-0D4C3AE77B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562211C1-A403-B5D9-153D-A04BE771F45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4372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70461764-61DD-BE31-796A-8EC656F33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E74FA12-203F-643F-C6B9-DC34ACCA4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BBC0005E-5A53-C3EB-C3BD-BD12A82B3E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AB45F5E6-BDB8-8ADA-9002-5175FE93E3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3906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15D662F9-F70F-0131-0EA8-84A7D399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F2BB6C8B-C52A-F300-2200-813E487E33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42D6958-7499-0B79-D716-7D3AFF493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5570371-1868-F0C0-23E3-FD32C48568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0648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EAF70EB4-E1C4-E4A3-5638-C699ACAB1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4BC63630-780A-87D6-64B3-0ECC92C41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EB7EBC8A-F24A-A983-24C7-1982C64CB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4A9075E-39A5-42EB-F5B1-3B905DE7C5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957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6CC0B563-D7E7-4F54-5DDB-ED199650E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0FF9B98F-5C59-8C31-E38F-D539927B9D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BAD6438-29AC-F8DD-2A63-C0D49D6C50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277A9F14-634F-9542-8212-C1E9C96875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019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98C4A17-B666-D542-FC9E-70D2B706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6A3A108-4427-F883-79FF-D447594D08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F119C261-C47B-B2ED-99C2-B4A3DCE09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4FE6556F-2196-CA5E-15EF-752A5801FA7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470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E7D7FEC-01A0-3045-1148-1F887BF96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AEF20C8E-DA74-B537-5B75-30584D0F6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2F7F678C-FCCB-F6DE-D3D9-20D8BCE225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69E73A5D-891C-4AAC-9A81-3A385D764F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40003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6B9F73C5-5D85-AF6A-C89B-979C6BB8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0F34C1F3-53CA-016F-406A-1D7688F56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D384AFD0-404B-0017-4CFA-F3DE8959D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DFCB639-8A45-9A1C-28FE-BC0CC7AAA5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691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219EE3E-4318-063B-1368-1B1612F6C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4057151-3C5A-AFC5-9478-1A4FAF171D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16398011-1D32-C69D-0270-4FEC6FB6F7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C8B295DF-DDEB-040D-E897-E4A484455D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3159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01A73504-6E32-E85B-58D2-51C528857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2FAC582-BB5A-91B9-DB9C-25768AF8C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0C53EB7-D35D-8EB5-A9B0-EFB91492EF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FB35E0E9-F452-762E-4BB2-2EB001088D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5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B81C57A1-6A08-880C-21D3-C5715977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EABB82CD-7DED-C140-B679-E05914E58E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60DFB4E-DF90-8928-BFDA-9E626C7A9F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00B58109-B340-4301-6819-E59C4D3C48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89106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F8145812-63AC-07D6-228F-E3C716802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F85AF99-8ECD-E9CF-5E74-C8DE068B34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92F7B1DB-DB67-3BC9-9D96-94A7FAAE0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9AD0A60F-E488-3128-79D7-C0B1E7F512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65660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D6B91BB8-66F2-20ED-1E56-D79EDBD91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F18C3F3-B918-BEB4-AC0C-2F273C877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3731D0E4-8A13-8BB9-CBE2-468A67F28A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7B65F3ED-9E57-CFE7-A24F-AA50E935B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2430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91D7002D-6ECA-6E5A-CDCA-7FD944B9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7CFC8C82-7A28-3454-1648-DB8AE640A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5F30C247-0287-F542-D0FC-BFDD2FF84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698FB34-0C77-AC0B-C672-FBBF58E403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636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C2E18001-AC35-A7EA-5F64-9B837372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BB66AB2F-6089-66DA-E188-DED18CC43C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C52F753A-27B7-2FE4-347B-985D4A7FFE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63856131-E2E2-CDAB-32E2-F9463ABE802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8736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CD7361F0-8AF4-DB79-E1D8-A6FDCC29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3CE0EC50-8711-37E5-7CA6-1BF610C4B8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DDE6E10-01E6-C277-FA0B-5D60846BB5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EA16740C-B06F-1E89-570A-C9FFAA0B0F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78254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B82551F-3817-4206-0A53-B6EE6721E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5ACD9CB-3CC2-8AC4-23EF-7F72D832C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A890A6D9-61F7-4A4B-045B-ED6B193C23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US" dirty="0"/>
          </a:p>
        </p:txBody>
      </p:sp>
      <p:sp>
        <p:nvSpPr>
          <p:cNvPr id="56" name="Google Shape;56;p2:notes">
            <a:extLst>
              <a:ext uri="{FF2B5EF4-FFF2-40B4-BE49-F238E27FC236}">
                <a16:creationId xmlns:a16="http://schemas.microsoft.com/office/drawing/2014/main" id="{D9804534-9204-A7B8-5107-F72412E710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480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6D5F-296A-9D9C-7B02-E5F1294C5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FD6DF-BF64-022A-BF1B-E723B79CF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10426-242D-1866-7371-33712936A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D5BB1-156F-A250-8143-39258BFD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12486-ED7C-601A-07C3-0588F032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55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CC94-9601-554E-2473-EAD1FF0E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25483-7771-9D33-F860-B913D88E5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B4A4A-E90C-DE90-F53F-A822866F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A2417-76BD-3138-8048-16AFF301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AF28C-F37E-BE32-BC15-721F174C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788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BD73-E300-B58C-84E9-4070EF832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8F4BD-F288-FBAD-E2C2-DC4B2991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EDB87-1EFC-C542-938D-FDABC182D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DB77F-C03C-3850-EEF0-FED7026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68237-DBB9-5506-4629-0640F5D77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9234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CD44-7C05-654E-130B-B80D4F6D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A2E0D-41F3-0289-D17A-ADDBFFAE5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8CFBA-B710-AEE5-6DCE-F88B66CB6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25523-3226-6740-DFE0-442561F34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8C7A-672D-4E5C-00FD-87B952BC4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76E3C-68C5-9BE7-3770-0515A96E8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3334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DEA4-1FE0-C7C8-A74C-FB2DCDD79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784E8-8F70-B19D-9D0E-CA62112A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2D45A-A56E-B3B7-3CCB-CB067F2B4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333D64-2B01-FD20-58D4-2D134D5E4C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4D3A6-0B04-DA48-A4BC-4F1C19395B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FCD46C-BF0B-401C-98A9-24158A789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6F770D-9B4E-4D29-5C5C-AE587E5B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262C04-F129-02E4-781F-3646931C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0292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F7F6-BF6B-FB3E-23E7-82794F50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F79EAC-2539-3201-8837-738B2FE16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E3DF6-21BD-7A0D-1FCE-24973274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B1B42-BF35-5D5A-5201-7859C7C5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925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6AFF4E-FFD6-0E44-06DD-7F1A2D64B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9DCB6-0DD5-4245-A8AA-2FDA56F7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BA92C-DA5B-C37C-8D3A-2A4E3105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4299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91B42-FA3C-B265-A0F1-6C89C439B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FD163-592E-C44E-1820-4CE74481A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2C1E57-1796-FF83-F9FD-3E99CCC22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6A113-CC36-EDEA-A415-4133B7B3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25AF4-F504-36E8-563E-0358170C7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69C4C-87A4-1B96-1471-B89D8354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153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4F954-3FC3-BE38-A5B7-C0855E8B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9D804-BDE3-2B2E-F4C7-30F96022AF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6DD7E-3A6B-AC04-E8C2-73BFBBF74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08ED2-65F1-5C34-E361-35D8A892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4BD92-3DB2-9F33-2C26-508A4B61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F986-D48D-6F97-8044-32A5F9F8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8640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54971-E647-A407-7550-A515BA5C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C7418-0E4C-2E96-64A7-D783B9F04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6EC9-06EB-D1DB-2FC2-3FFE40EF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830BA-AA22-410A-8B7D-F42D23BF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D1A2B-0391-7382-53B9-AAA7B23F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218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FC3B0A-971B-7399-2EF5-74696D20E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1774-621D-F5C6-62AD-472402711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6AA94-1B96-B3FE-37FE-A71F8FB5B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A57C8-350C-FD17-1651-2716696A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0D4F-CA28-5940-A6D1-9A880DA9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379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528D99-5627-D17F-A444-5F4FCC13D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BE08-574F-1B5D-A018-AA9BD7435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CD89B-6ACA-068C-541B-54F4C0EF7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BBF857-398F-4EA8-B8D4-9CBF2D9D9DBA}" type="datetimeFigureOut">
              <a:rPr lang="en-SG" smtClean="0"/>
              <a:t>14/1/2026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AF4B2-6008-33A0-8F19-4D18D5919E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0E320-D60E-31B0-8C64-37892A9D6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C32213-E724-4C9B-831C-E65C0CB1538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1873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0" y="0"/>
            <a:ext cx="12192000" cy="685799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7"/>
          <p:cNvSpPr txBox="1"/>
          <p:nvPr/>
        </p:nvSpPr>
        <p:spPr>
          <a:xfrm>
            <a:off x="11393551" y="5890361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244325" y="2180421"/>
            <a:ext cx="548669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00" b="1" dirty="0">
                <a:solidFill>
                  <a:schemeClr val="lt1"/>
                </a:solidFill>
              </a:rPr>
              <a:t>Research on </a:t>
            </a:r>
            <a:r>
              <a:rPr lang="en-US" altLang="zh-CN" sz="3000" b="1" dirty="0">
                <a:solidFill>
                  <a:schemeClr val="lt1"/>
                </a:solidFill>
              </a:rPr>
              <a:t>AI for </a:t>
            </a:r>
            <a:r>
              <a:rPr lang="en-US" altLang="zh-CN" sz="3000" b="1" dirty="0" err="1">
                <a:solidFill>
                  <a:schemeClr val="lt1"/>
                </a:solidFill>
              </a:rPr>
              <a:t>Radicalisation</a:t>
            </a:r>
            <a:endParaRPr lang="en-US" sz="3000" b="1" dirty="0">
              <a:solidFill>
                <a:schemeClr val="lt1"/>
              </a:solidFill>
            </a:endParaRPr>
          </a:p>
        </p:txBody>
      </p:sp>
      <p:sp>
        <p:nvSpPr>
          <p:cNvPr id="2" name="Google Shape;51;p7">
            <a:extLst>
              <a:ext uri="{FF2B5EF4-FFF2-40B4-BE49-F238E27FC236}">
                <a16:creationId xmlns:a16="http://schemas.microsoft.com/office/drawing/2014/main" id="{9CF21987-CB74-4654-9378-C93E9CBE606E}"/>
              </a:ext>
            </a:extLst>
          </p:cNvPr>
          <p:cNvSpPr txBox="1">
            <a:spLocks/>
          </p:cNvSpPr>
          <p:nvPr/>
        </p:nvSpPr>
        <p:spPr>
          <a:xfrm>
            <a:off x="244325" y="4776340"/>
            <a:ext cx="5486692" cy="2492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1100"/>
            </a:pPr>
            <a:r>
              <a:rPr lang="en-US" sz="1800" dirty="0">
                <a:solidFill>
                  <a:schemeClr val="lt1"/>
                </a:solidFill>
              </a:rPr>
              <a:t>Li Shanghong</a:t>
            </a:r>
          </a:p>
        </p:txBody>
      </p:sp>
      <p:sp>
        <p:nvSpPr>
          <p:cNvPr id="3" name="Google Shape;51;p7">
            <a:extLst>
              <a:ext uri="{FF2B5EF4-FFF2-40B4-BE49-F238E27FC236}">
                <a16:creationId xmlns:a16="http://schemas.microsoft.com/office/drawing/2014/main" id="{5CA29BFE-626F-7AEF-A0B2-5FB99829E301}"/>
              </a:ext>
            </a:extLst>
          </p:cNvPr>
          <p:cNvSpPr txBox="1">
            <a:spLocks/>
          </p:cNvSpPr>
          <p:nvPr/>
        </p:nvSpPr>
        <p:spPr>
          <a:xfrm>
            <a:off x="244325" y="4458840"/>
            <a:ext cx="5486692" cy="24929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SzPts val="1100"/>
            </a:pPr>
            <a:r>
              <a:rPr lang="en-US" sz="1800" dirty="0">
                <a:solidFill>
                  <a:schemeClr val="lt1"/>
                </a:solidFill>
              </a:rPr>
              <a:t>Work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AF1532E9-AD6B-B8AD-8015-194E1FE09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989F53A8-1FA2-F134-42F4-B43389032FAA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0167ED7-E7FC-7C90-CB97-8B8A76751767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Questions Refine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B9A4B55F-DECC-0163-8FDF-4A826C7F8D64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Review of previous meeting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2" name="Google Shape;59;p8">
            <a:extLst>
              <a:ext uri="{FF2B5EF4-FFF2-40B4-BE49-F238E27FC236}">
                <a16:creationId xmlns:a16="http://schemas.microsoft.com/office/drawing/2014/main" id="{DFF4C720-5022-8960-458F-31E99570F4BB}"/>
              </a:ext>
            </a:extLst>
          </p:cNvPr>
          <p:cNvSpPr txBox="1"/>
          <p:nvPr/>
        </p:nvSpPr>
        <p:spPr>
          <a:xfrm>
            <a:off x="297961" y="3286718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Analysis on Existing Coded Dataset</a:t>
            </a:r>
            <a:endParaRPr lang="en-US" b="1" i="1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61D9BF41-B904-FB44-86AB-1413968FF690}"/>
              </a:ext>
            </a:extLst>
          </p:cNvPr>
          <p:cNvSpPr txBox="1"/>
          <p:nvPr/>
        </p:nvSpPr>
        <p:spPr>
          <a:xfrm>
            <a:off x="268600" y="1459396"/>
            <a:ext cx="1074988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Identified 25 indicators that can be reliably detected from text-dominated social media posts, without heavy reliance on images, metadata, or cross-platform information.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Formulated key methodological gaps: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Existing datasets provide only binary coded labels, with no explicit indicator-level supervision.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Need to transform theory-driven indicators into AI-compatible, interpretable, and cumulative risk scores reflecting the Likelihood of </a:t>
            </a:r>
            <a:r>
              <a:rPr lang="en-US" altLang="zh-CN" sz="1600" dirty="0" err="1"/>
              <a:t>Mobilisation</a:t>
            </a:r>
            <a:r>
              <a:rPr lang="en-US" altLang="zh-CN" sz="1600" dirty="0"/>
              <a:t>.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E5CFC15B-86E5-2814-FCB5-F4C4CDDD4014}"/>
              </a:ext>
            </a:extLst>
          </p:cNvPr>
          <p:cNvSpPr txBox="1"/>
          <p:nvPr/>
        </p:nvSpPr>
        <p:spPr>
          <a:xfrm>
            <a:off x="268600" y="3790991"/>
            <a:ext cx="1074988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Conducted systematic corpus-level and statistical analysis on 18,374 coded social media texts.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Key findings: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Severe class imbalance: Coded = 1 accounts for only 7.3% of samples.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Strong text length bias: Coded = 1 posts are substantially longer and more narrative-driven.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sz="1600" dirty="0"/>
              <a:t>High lexical overlap between coded and non-coded texts: keyword- or frequency-based methods are insufficient for capturing implicit </a:t>
            </a:r>
            <a:r>
              <a:rPr lang="en-US" altLang="zh-CN" sz="1600" dirty="0" err="1"/>
              <a:t>radicalisation</a:t>
            </a:r>
            <a:r>
              <a:rPr lang="en-US" altLang="zh-CN" sz="1600" dirty="0"/>
              <a:t> processes.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The dataset is unsuitable for direct end-to-end classification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altLang="zh-CN" dirty="0"/>
              <a:t>Strongly motivates the need for indicator-level reasoning and structured modelling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59909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5F747A12-A2F9-9FFF-19E2-BC1B6E1B7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BB55DCBD-0FDE-1A6D-18B6-C4562215174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3D41139E-316E-6BD2-7AEE-7858095C1100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 AI-based Classification Attempt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2B8CB68-4550-B62A-BD93-7A2DDD08B7D4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Review of previous meeting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1F01841F-C5B6-BACC-38A2-BB0F1A382575}"/>
              </a:ext>
            </a:extLst>
          </p:cNvPr>
          <p:cNvSpPr txBox="1"/>
          <p:nvPr/>
        </p:nvSpPr>
        <p:spPr>
          <a:xfrm>
            <a:off x="268600" y="1459396"/>
            <a:ext cx="10749884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Performed an initial embedding-based baseline experiment to assess the feasibility of </a:t>
            </a:r>
            <a:r>
              <a:rPr lang="en-US" dirty="0" err="1"/>
              <a:t>direc</a:t>
            </a:r>
            <a:r>
              <a:rPr lang="en-US" dirty="0"/>
              <a:t>. classification using existing coded labels.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Method: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Sentence embeddings (all-MiniLM-L6-v2) with a downstream MLP classifier.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Text-only input, without indicator supervision.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Results: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Superficially high aggregate performance (Accuracy = 0.919, ROC-AUC = 0.869).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Complete failure on the minority (high-risk) class: Precision / Recall / F1 = 0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Conclusion: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Generic semantic embeddings fail to detect </a:t>
            </a:r>
            <a:r>
              <a:rPr lang="en-US" sz="1600" dirty="0" err="1"/>
              <a:t>mobilisation</a:t>
            </a:r>
            <a:r>
              <a:rPr lang="en-US" sz="1600" dirty="0"/>
              <a:t>-related risk under realistic data constraints.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sz="1600" dirty="0"/>
              <a:t>Confirms that class imbalance, indicator absence, and dataset bias are the fundamental bottlenecks.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This directly motivates a shift towards an indicator-aware, risk-sensitive AI framework.</a:t>
            </a:r>
          </a:p>
        </p:txBody>
      </p:sp>
    </p:spTree>
    <p:extLst>
      <p:ext uri="{BB962C8B-B14F-4D97-AF65-F5344CB8AC3E}">
        <p14:creationId xmlns:p14="http://schemas.microsoft.com/office/powerpoint/2010/main" val="370380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10A5B5A3-3DF7-1F03-AC7C-C71A81AA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725C703A-DA00-977B-2DFF-649EA4103B81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E987E8E-A4D4-0F2D-8654-1998404D54DE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Translating the Indicator Codebook into AI-Readable References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10605619-8843-FCFE-6CB5-1B1ECAE0132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Overview of recent work</a:t>
            </a:r>
            <a:endParaRPr sz="3000" b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96C5210-E467-1A82-0C6E-8AAD2E353F2D}"/>
              </a:ext>
            </a:extLst>
          </p:cNvPr>
          <p:cNvSpPr txBox="1"/>
          <p:nvPr/>
        </p:nvSpPr>
        <p:spPr>
          <a:xfrm>
            <a:off x="268600" y="1459396"/>
            <a:ext cx="1074988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Treated the codebook as an </a:t>
            </a:r>
            <a:r>
              <a:rPr lang="en-US" b="1" dirty="0" err="1"/>
              <a:t>operationalised</a:t>
            </a:r>
            <a:r>
              <a:rPr lang="en-US" b="1" dirty="0"/>
              <a:t> theory</a:t>
            </a:r>
            <a:r>
              <a:rPr lang="en-US" dirty="0"/>
              <a:t>, not a direct modelling target.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Selected text-observable indicators suitable for text-dominated social media from INDICATORS.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Reformulated indicators into AI-compatible descriptions for: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Prompt grounding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Indicator-aware reasoning</a:t>
            </a:r>
          </a:p>
        </p:txBody>
      </p:sp>
      <p:sp>
        <p:nvSpPr>
          <p:cNvPr id="8" name="Google Shape;59;p8">
            <a:extLst>
              <a:ext uri="{FF2B5EF4-FFF2-40B4-BE49-F238E27FC236}">
                <a16:creationId xmlns:a16="http://schemas.microsoft.com/office/drawing/2014/main" id="{32D31A8C-5501-B221-EB4F-1317DA0559B9}"/>
              </a:ext>
            </a:extLst>
          </p:cNvPr>
          <p:cNvSpPr txBox="1"/>
          <p:nvPr/>
        </p:nvSpPr>
        <p:spPr>
          <a:xfrm>
            <a:off x="268600" y="3244500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Design &amp; LLM-based Validation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9" name="文本框 1">
            <a:extLst>
              <a:ext uri="{FF2B5EF4-FFF2-40B4-BE49-F238E27FC236}">
                <a16:creationId xmlns:a16="http://schemas.microsoft.com/office/drawing/2014/main" id="{730FCA80-7C38-96BD-4917-61875E602BEE}"/>
              </a:ext>
            </a:extLst>
          </p:cNvPr>
          <p:cNvSpPr txBox="1"/>
          <p:nvPr/>
        </p:nvSpPr>
        <p:spPr>
          <a:xfrm>
            <a:off x="297961" y="3715019"/>
            <a:ext cx="10749884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Designed structured prompts to guide LLMs to: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Reason over indicator definitions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Judge indicator presence from post text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Conducted initial experiments on the existing coded dataset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Observed that LLMs provide: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More interpretable, indicator-level judgments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Improved sensitivity to implicit narrative signals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63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4904152D-9B7C-1EF4-701A-85E48555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D4AE5383-0085-700E-9441-342903B59A3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101CD68-4F02-0E9A-EB41-82100CCF362B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From Conceptual Indicators to Operational Codebook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E71167-4598-E5A3-4A7E-B650D2AE053D}"/>
              </a:ext>
            </a:extLst>
          </p:cNvPr>
          <p:cNvSpPr txBox="1"/>
          <p:nvPr/>
        </p:nvSpPr>
        <p:spPr>
          <a:xfrm>
            <a:off x="268600" y="1459396"/>
            <a:ext cx="1149795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Original Study (Neo, 2020): </a:t>
            </a:r>
            <a:r>
              <a:rPr lang="en-SG" b="1" dirty="0"/>
              <a:t>46 Conceptual Indicators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are conceptual and multi-faceted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indicator may simultaneously include: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psychological state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narrative stance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 err="1"/>
              <a:t>behavioural</a:t>
            </a:r>
            <a:r>
              <a:rPr lang="en-US" dirty="0"/>
              <a:t> intention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Codebook (INDICATORS.pdf): </a:t>
            </a:r>
            <a:r>
              <a:rPr lang="en-SG" b="1" dirty="0"/>
              <a:t>92 Operational Indicators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46 conceptual indicators were systematically decomposed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indicator was transformed into: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explicit textual cues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single-focus coding units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new theoretical constructs were introduced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Key Point: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increase from 46 to 92 reflects operational decomposition, not theoretical expansion.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  <p:sp>
        <p:nvSpPr>
          <p:cNvPr id="3" name="Google Shape;60;p8">
            <a:extLst>
              <a:ext uri="{FF2B5EF4-FFF2-40B4-BE49-F238E27FC236}">
                <a16:creationId xmlns:a16="http://schemas.microsoft.com/office/drawing/2014/main" id="{682516A5-2D49-27E9-4C92-97AA14CF7011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</p:spTree>
    <p:extLst>
      <p:ext uri="{BB962C8B-B14F-4D97-AF65-F5344CB8AC3E}">
        <p14:creationId xmlns:p14="http://schemas.microsoft.com/office/powerpoint/2010/main" val="539698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688FFAD8-1844-8F6D-E508-D8E37E9B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10BE83C3-80F3-0446-DB5E-0017FDFD6B80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8C017E5E-BECA-E05D-A584-A039CD5AB855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Work: 25 Text-suitable Indicators (from the original 46)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F47800-25CF-50C2-72F9-3109DC1ABADA}"/>
              </a:ext>
            </a:extLst>
          </p:cNvPr>
          <p:cNvSpPr txBox="1"/>
          <p:nvPr/>
        </p:nvSpPr>
        <p:spPr>
          <a:xfrm>
            <a:off x="268600" y="1459396"/>
            <a:ext cx="1149795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were screened based 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availability in </a:t>
            </a:r>
            <a:r>
              <a:rPr lang="en-US" b="1" dirty="0"/>
              <a:t>public social media text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detectability via </a:t>
            </a:r>
            <a:r>
              <a:rPr lang="en-SG" b="1" dirty="0"/>
              <a:t>linguistic content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Non-textual indicators were excluded</a:t>
            </a:r>
            <a:endParaRPr lang="en-US" dirty="0"/>
          </a:p>
        </p:txBody>
      </p:sp>
      <p:sp>
        <p:nvSpPr>
          <p:cNvPr id="3" name="Google Shape;60;p8">
            <a:extLst>
              <a:ext uri="{FF2B5EF4-FFF2-40B4-BE49-F238E27FC236}">
                <a16:creationId xmlns:a16="http://schemas.microsoft.com/office/drawing/2014/main" id="{0D45EEC0-27E0-1A56-AA79-64E7CAB2CC90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sp>
        <p:nvSpPr>
          <p:cNvPr id="4" name="Google Shape;59;p8">
            <a:extLst>
              <a:ext uri="{FF2B5EF4-FFF2-40B4-BE49-F238E27FC236}">
                <a16:creationId xmlns:a16="http://schemas.microsoft.com/office/drawing/2014/main" id="{5498E2CD-6C35-EBF4-B6B9-0AD473BD2FD5}"/>
              </a:ext>
            </a:extLst>
          </p:cNvPr>
          <p:cNvSpPr txBox="1"/>
          <p:nvPr/>
        </p:nvSpPr>
        <p:spPr>
          <a:xfrm>
            <a:off x="297961" y="2828866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week’s Work: 34 Operational Indicators (from the 92)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0033DD58-6E07-7B6F-0B6C-4BA188F5D418}"/>
              </a:ext>
            </a:extLst>
          </p:cNvPr>
          <p:cNvSpPr txBox="1"/>
          <p:nvPr/>
        </p:nvSpPr>
        <p:spPr>
          <a:xfrm>
            <a:off x="297961" y="3329326"/>
            <a:ext cx="11497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Each of the 25 selected conceptual indicators was mapped back to the codebook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All corresponding operational sub-indicators were retained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Resulting in 34 text-detectable operational indicators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21BE82-6E4E-8582-9709-0D7B3FA0F9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70863"/>
              </p:ext>
            </p:extLst>
          </p:nvPr>
        </p:nvGraphicFramePr>
        <p:xfrm>
          <a:off x="431800" y="4471504"/>
          <a:ext cx="706755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3150">
                  <a:extLst>
                    <a:ext uri="{9D8B030D-6E8A-4147-A177-3AD203B41FA5}">
                      <a16:colId xmlns:a16="http://schemas.microsoft.com/office/drawing/2014/main" val="49243469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6852505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Number of Indicators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00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Original conceptual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6411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Text-suitable conceptual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1864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dirty="0"/>
                        <a:t>Codebook operational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8846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/>
                        <a:t>Final selected operational indicators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400" b="1" dirty="0"/>
                        <a:t>34</a:t>
                      </a:r>
                      <a:endParaRPr lang="en-SG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124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7005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4CB6221C-06C4-FB53-883D-A210C460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ED5570D8-0AD7-4310-B6E0-269707EF195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F29C1B9E-3C01-72FE-4971-14A9B729E7C6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3C966F4-0D88-C8ED-831B-7E271A0CEF65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AA9DF7-9B93-3B3C-8CAD-5F2105D9E7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732765"/>
              </p:ext>
            </p:extLst>
          </p:nvPr>
        </p:nvGraphicFramePr>
        <p:xfrm>
          <a:off x="374651" y="1500453"/>
          <a:ext cx="7181849" cy="5184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113020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213757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Need: Individual Significance Loss: Interpersonal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Need: Individual Significance Loss: Career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Need: Individual Significance Loss: Radical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Need: Individual Significance Loss: Self-esteem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Individual Significance Loss: Others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Radical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Non-radical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Social Significance Loss: Non-religious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PG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7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Martyrdom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5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Vengeance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6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Leadership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Radical Activities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22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1032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C77F8F27-E966-889F-CB3A-420C34D38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4559E886-AC22-AEDF-6567-33AC14A9B8FA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7DAB5E64-77A8-CEB6-B99E-7C252B49E60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8307D24-DB79-D972-57B5-89AB1791962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073C97-4C7A-0494-0C09-7DA4C5D190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173369"/>
              </p:ext>
            </p:extLst>
          </p:nvPr>
        </p:nvGraphicFramePr>
        <p:xfrm>
          <a:off x="374651" y="1500453"/>
          <a:ext cx="7181849" cy="5184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098506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228271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Opportunity for Significance Gain: Religious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Quest for Significance: Radical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Need: Quest for Significance: Dualistic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Necessity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Allowability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Jihad </a:t>
                      </a:r>
                      <a:r>
                        <a:rPr lang="en-SG" sz="1200" dirty="0" err="1"/>
                        <a:t>qital</a:t>
                      </a:r>
                      <a:endParaRPr lang="en-SG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Narrative: Violent: Martyrdom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Violent: Salafi Jihadism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Violent: Takfiri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907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Political 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559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Salafi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61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Non-Violent: Jihad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01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Military/violent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622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804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12E0490-6A5D-9379-815A-F7FD886D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37469909-D992-7C21-7621-80E44A22C1A0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205769C1-CB9F-F098-3D71-545C1332F3F8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Text-observable operational indicators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760E12E8-65D4-0F0F-485C-B1466F4C8AEA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Translating the Indicator Codebook into AI-Readable References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037471-60AB-7E60-BDF2-66B8167B3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79581"/>
              </p:ext>
            </p:extLst>
          </p:nvPr>
        </p:nvGraphicFramePr>
        <p:xfrm>
          <a:off x="374651" y="1500453"/>
          <a:ext cx="7181849" cy="3330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072">
                  <a:extLst>
                    <a:ext uri="{9D8B030D-6E8A-4147-A177-3AD203B41FA5}">
                      <a16:colId xmlns:a16="http://schemas.microsoft.com/office/drawing/2014/main" val="3661025583"/>
                    </a:ext>
                  </a:extLst>
                </a:gridCol>
                <a:gridCol w="5142048">
                  <a:extLst>
                    <a:ext uri="{9D8B030D-6E8A-4147-A177-3AD203B41FA5}">
                      <a16:colId xmlns:a16="http://schemas.microsoft.com/office/drawing/2014/main" val="3003743218"/>
                    </a:ext>
                  </a:extLst>
                </a:gridCol>
                <a:gridCol w="1184729">
                  <a:extLst>
                    <a:ext uri="{9D8B030D-6E8A-4147-A177-3AD203B41FA5}">
                      <a16:colId xmlns:a16="http://schemas.microsoft.com/office/drawing/2014/main" val="12959605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Codebook Indicator (exact from PDF)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altLang="zh-CN" sz="1200" dirty="0"/>
                        <a:t>Categories</a:t>
                      </a:r>
                      <a:endParaRPr lang="zh-CN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7778571"/>
                  </a:ext>
                </a:extLst>
              </a:tr>
              <a:tr h="3639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Political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402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Strategies/Methods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Group(s): Religious aspects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6821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Takfiri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1143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Salafi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927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Disagreement with Radical Ideology: Thogut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582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Narrative: Differences among Radical Groups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0846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/>
                        <a:t>Narrative: Religious Historical 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200" dirty="0"/>
                        <a:t>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107993"/>
                  </a:ext>
                </a:extLst>
              </a:tr>
            </a:tbl>
          </a:graphicData>
        </a:graphic>
      </p:graphicFrame>
      <p:sp>
        <p:nvSpPr>
          <p:cNvPr id="4" name="文本框 1">
            <a:extLst>
              <a:ext uri="{FF2B5EF4-FFF2-40B4-BE49-F238E27FC236}">
                <a16:creationId xmlns:a16="http://schemas.microsoft.com/office/drawing/2014/main" id="{0097659C-A2CB-FB6B-1490-A6ABC6F916A7}"/>
              </a:ext>
            </a:extLst>
          </p:cNvPr>
          <p:cNvSpPr txBox="1"/>
          <p:nvPr/>
        </p:nvSpPr>
        <p:spPr>
          <a:xfrm>
            <a:off x="268600" y="4858333"/>
            <a:ext cx="114979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Key Observation: All 34 selected operational indicators belong to the Need and Narrative categories.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These two categories capture internal motivations and ideological expressions, which are directly observable in social media text.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Network and Identity Fusion indicators primarily rely on relational, contextual, or </a:t>
            </a:r>
            <a:r>
              <a:rPr lang="en-US" dirty="0" err="1">
                <a:solidFill>
                  <a:srgbClr val="FF0000"/>
                </a:solidFill>
              </a:rPr>
              <a:t>behavioural</a:t>
            </a:r>
            <a:r>
              <a:rPr lang="en-US" dirty="0"/>
              <a:t> information, and were therefore excluded from text-only modelling.</a:t>
            </a:r>
          </a:p>
        </p:txBody>
      </p:sp>
    </p:spTree>
    <p:extLst>
      <p:ext uri="{BB962C8B-B14F-4D97-AF65-F5344CB8AC3E}">
        <p14:creationId xmlns:p14="http://schemas.microsoft.com/office/powerpoint/2010/main" val="129514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E5D7E4EB-1BDF-AC38-E20B-97564E57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294354EE-C4CA-9361-D0B8-8F3B9BBEF27E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71F1C0C5-CD97-33E5-97B2-3F4D047E711F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9649CF13-B164-9B6A-DF51-AD4A0B6BDEB6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068CFA-3F17-13BA-3EB2-A84FCAA988B5}"/>
              </a:ext>
            </a:extLst>
          </p:cNvPr>
          <p:cNvSpPr txBox="1"/>
          <p:nvPr/>
        </p:nvSpPr>
        <p:spPr>
          <a:xfrm>
            <a:off x="268600" y="1486483"/>
            <a:ext cx="10602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Neo (2020) relies on </a:t>
            </a:r>
            <a:r>
              <a:rPr lang="en-US" b="1" dirty="0"/>
              <a:t>trained human coders </a:t>
            </a:r>
            <a:r>
              <a:rPr lang="en-US" dirty="0"/>
              <a:t>to identify the presence of </a:t>
            </a:r>
            <a:r>
              <a:rPr lang="en-US" dirty="0" err="1"/>
              <a:t>radicalisation</a:t>
            </a:r>
            <a:r>
              <a:rPr lang="en-US" dirty="0"/>
              <a:t> indicators in social media text.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To enable </a:t>
            </a:r>
            <a:r>
              <a:rPr lang="en-US" b="1" dirty="0"/>
              <a:t>scalable and reproducible validation</a:t>
            </a:r>
            <a:r>
              <a:rPr lang="en-US" dirty="0"/>
              <a:t>, we replace human coders with Large Language Models (LLMs).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goal is not classification, but </a:t>
            </a:r>
            <a:r>
              <a:rPr lang="en-US" b="1" dirty="0"/>
              <a:t>indicator-level detection</a:t>
            </a:r>
            <a:r>
              <a:rPr lang="en-US" dirty="0"/>
              <a:t>, consistent with the original study.</a:t>
            </a:r>
          </a:p>
        </p:txBody>
      </p:sp>
      <p:sp>
        <p:nvSpPr>
          <p:cNvPr id="4" name="Google Shape;59;p8">
            <a:extLst>
              <a:ext uri="{FF2B5EF4-FFF2-40B4-BE49-F238E27FC236}">
                <a16:creationId xmlns:a16="http://schemas.microsoft.com/office/drawing/2014/main" id="{6B83255D-68DE-074B-E16B-5266910CA106}"/>
              </a:ext>
            </a:extLst>
          </p:cNvPr>
          <p:cNvSpPr txBox="1"/>
          <p:nvPr/>
        </p:nvSpPr>
        <p:spPr>
          <a:xfrm>
            <a:off x="327322" y="30339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 Definition (Following Neo, 2020)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12CB9E61-1365-F12A-FFD7-635C584A9682}"/>
              </a:ext>
            </a:extLst>
          </p:cNvPr>
          <p:cNvSpPr txBox="1"/>
          <p:nvPr/>
        </p:nvSpPr>
        <p:spPr>
          <a:xfrm>
            <a:off x="297961" y="3505783"/>
            <a:ext cx="106026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Input: A single social media post (text only)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Task: Determine whether each predefined indicator is Present or Not Present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Coding scheme: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Binary coding (Present / Not Present)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Indicators are evaluated independently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Judgements rely only on explicit textual evidence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inference of author intent, background, or offline </a:t>
            </a:r>
            <a:r>
              <a:rPr lang="en-US" dirty="0" err="1"/>
              <a:t>behaviour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268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0206AB48-0005-46E7-8304-0A0BBDA5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0B6ACCAD-EE9C-3158-ED0E-73989AF00CCB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0BA030E-DDF8-23FB-BC83-524F6B12503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A3BB4F9C-0B9D-28BE-2676-16954630C245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5" name="文本框 1">
            <a:extLst>
              <a:ext uri="{FF2B5EF4-FFF2-40B4-BE49-F238E27FC236}">
                <a16:creationId xmlns:a16="http://schemas.microsoft.com/office/drawing/2014/main" id="{4D3E47F5-6D2B-9A74-CF26-428AB585E765}"/>
              </a:ext>
            </a:extLst>
          </p:cNvPr>
          <p:cNvSpPr txBox="1"/>
          <p:nvPr/>
        </p:nvSpPr>
        <p:spPr>
          <a:xfrm>
            <a:off x="268600" y="1505533"/>
            <a:ext cx="10602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The LLM is instructed to: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Act as a trained human coder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Follow indicator-based detection, not </a:t>
            </a:r>
            <a:r>
              <a:rPr lang="en-US" dirty="0" err="1"/>
              <a:t>radicalisation</a:t>
            </a:r>
            <a:r>
              <a:rPr lang="en-US" dirty="0"/>
              <a:t> classification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Apply strict binary judgement for each indicator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Avoid merging indicators or introducing new categories</a:t>
            </a:r>
          </a:p>
        </p:txBody>
      </p:sp>
    </p:spTree>
    <p:extLst>
      <p:ext uri="{BB962C8B-B14F-4D97-AF65-F5344CB8AC3E}">
        <p14:creationId xmlns:p14="http://schemas.microsoft.com/office/powerpoint/2010/main" val="4272823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CCD705AF-E842-4E58-FCCC-0FCA4BEF9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85569CD3-7688-D739-7113-FD601AE3A3B4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B9434179-4CDF-3C35-439D-998110F64125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58D9E95-AF3B-D805-2DF6-D3E17804DF37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3506D5-7851-C615-8C86-0EE1846CBE03}"/>
              </a:ext>
            </a:extLst>
          </p:cNvPr>
          <p:cNvSpPr txBox="1"/>
          <p:nvPr/>
        </p:nvSpPr>
        <p:spPr>
          <a:xfrm>
            <a:off x="297962" y="1518161"/>
            <a:ext cx="4893163" cy="4778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Consolas" panose="020B0609020204030204" pitchFamily="49" charset="0"/>
              </a:rPr>
              <a:t>You are acting as a trained human coder following the indicator-based coding framework proposed in Neo (2020) for detecting markers of radicalisation in social media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Your task is NOT to assess whether the author is radicalised.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Your task is to identify whether specific indicators are PRESENT or NOT PRESENT in the given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 must follow these rules strictly: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1. Base your judgement ONLY on the explicit content of the given text.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2. Do NOT infer intent, background, or offline behaviour.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3. Each indicator must be coded independently.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4. Use binary coding: “Present” or “Not Present”.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5. An indicator is “Present” only if there is clear linguistic evidence in the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US" sz="1050" dirty="0">
                <a:latin typeface="Consolas" panose="020B0609020204030204" pitchFamily="49" charset="0"/>
              </a:rPr>
              <a:t>Additional constraints: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The fields “Person”, “Category”, and “Date” are provided for contextual completeness only.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You MUST NOT use the identity of the person, group labels, or metadata to make your judgement.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- Coding decisions must be based solely on the textual content labelled as “Content”.</a:t>
            </a:r>
            <a:endParaRPr lang="en-SG" sz="1050" dirty="0">
              <a:latin typeface="Consolas" panose="020B0609020204030204" pitchFamily="49" charset="0"/>
            </a:endParaRP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Below is the list of indicators you must code.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You must evaluate ALL indicators for each input text.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endParaRPr lang="en-SG" sz="105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61F6E-345C-7479-79DD-CE8827D39D18}"/>
              </a:ext>
            </a:extLst>
          </p:cNvPr>
          <p:cNvSpPr txBox="1"/>
          <p:nvPr/>
        </p:nvSpPr>
        <p:spPr>
          <a:xfrm>
            <a:off x="5481811" y="1266016"/>
            <a:ext cx="609600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NEED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Need: Individual Significance Loss: Interpersonal  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…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NARRATIVE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Narrative: Violent: Necessity  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…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--------------------------------------------------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For each indicator, output: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- Indicator name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- Coding result: Present or Not Present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Do not provide explanations unless explicitly requested.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Do not merge indicators.</a:t>
            </a:r>
          </a:p>
          <a:p>
            <a:r>
              <a:rPr lang="en-SG" sz="1050" dirty="0">
                <a:latin typeface="Consolas" panose="020B0609020204030204" pitchFamily="49" charset="0"/>
              </a:rPr>
              <a:t>Do not add new categories.</a:t>
            </a:r>
          </a:p>
          <a:p>
            <a:endParaRPr lang="en-SG" sz="1050" dirty="0">
              <a:latin typeface="Consolas" panose="020B0609020204030204" pitchFamily="49" charset="0"/>
            </a:endParaRPr>
          </a:p>
          <a:p>
            <a:r>
              <a:rPr lang="en-SG" sz="1050" dirty="0">
                <a:latin typeface="Consolas" panose="020B0609020204030204" pitchFamily="49" charset="0"/>
              </a:rPr>
              <a:t>Your output must strictly follow the following format.</a:t>
            </a:r>
            <a:br>
              <a:rPr lang="en-SG" sz="1050" dirty="0">
                <a:latin typeface="Consolas" panose="020B0609020204030204" pitchFamily="49" charset="0"/>
              </a:rPr>
            </a:br>
            <a:r>
              <a:rPr lang="en-US" sz="1050" dirty="0">
                <a:latin typeface="Consolas" panose="020B0609020204030204" pitchFamily="49" charset="0"/>
              </a:rPr>
              <a:t>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"Need":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"&lt;indicator name&gt;": "Present / Not Present",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},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"Narrative": {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"&lt;indicator name&gt;": "Present / Not Present",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  ...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  }</a:t>
            </a:r>
          </a:p>
          <a:p>
            <a:r>
              <a:rPr lang="en-US" sz="1050" dirty="0">
                <a:latin typeface="Consolas" panose="020B0609020204030204" pitchFamily="49" charset="0"/>
              </a:rPr>
              <a:t>}</a:t>
            </a:r>
          </a:p>
          <a:p>
            <a:endParaRPr lang="en-SG" sz="105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76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213EDB2-6F0B-ACF2-EDAF-6DE811EE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7C77D119-7E82-8CD2-7E52-CD4796977F14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2AB49BF6-9780-A02C-4CC4-95E2CB96FE90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7684BC5-10D1-C064-5C14-481134C7E4FE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5E1D28B-9807-BB81-DCA4-D1C1AA04E76A}"/>
              </a:ext>
            </a:extLst>
          </p:cNvPr>
          <p:cNvSpPr txBox="1"/>
          <p:nvPr/>
        </p:nvSpPr>
        <p:spPr>
          <a:xfrm>
            <a:off x="268600" y="1505533"/>
            <a:ext cx="106026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Design Objectives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Ensure consistency with Neo (2020)’s human coding procedure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Prevent information leakage from metadata or gold labels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Enable automated, batch processing from structured datasets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Clearly separate codable text from contextual metadata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Input Source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User prompts are generated from a CSV dataset processed via a </a:t>
            </a:r>
            <a:r>
              <a:rPr lang="en-US" dirty="0" err="1"/>
              <a:t>PyTorch</a:t>
            </a:r>
            <a:r>
              <a:rPr lang="en-US" dirty="0"/>
              <a:t> </a:t>
            </a:r>
            <a:r>
              <a:rPr lang="en-US" dirty="0" err="1"/>
              <a:t>DataLoader</a:t>
            </a:r>
            <a:endParaRPr lang="en-US" dirty="0"/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Available fields: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content (social media text)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person,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category, 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date (metadata)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coded (human annotation, not exposed to the LLM)</a:t>
            </a:r>
          </a:p>
        </p:txBody>
      </p:sp>
    </p:spTree>
    <p:extLst>
      <p:ext uri="{BB962C8B-B14F-4D97-AF65-F5344CB8AC3E}">
        <p14:creationId xmlns:p14="http://schemas.microsoft.com/office/powerpoint/2010/main" val="950028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B4CACF1F-4E43-0B10-3D7D-08A9A616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CCA7C4B9-EB4F-1026-F47D-25E84DBFE7F8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CF280FFB-EF89-70D5-E924-C8FD4A661A32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 Design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AE43D17D-1AB1-B18E-96E2-6BD38485297E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546B7B-2978-7FCA-00D7-8923C76E5F1F}"/>
              </a:ext>
            </a:extLst>
          </p:cNvPr>
          <p:cNvSpPr txBox="1"/>
          <p:nvPr/>
        </p:nvSpPr>
        <p:spPr>
          <a:xfrm>
            <a:off x="297962" y="1518161"/>
            <a:ext cx="711248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Contextual information (do NOT use this information for coding):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Person: [name]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Category: [group]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 Date: [date]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Text content to be coded: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-------------------------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[social media text]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692344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D5C2133-270F-340B-D953-62994E1D9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C0A50638-86D7-34AE-F794-57FA47DE91E7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90CD6B8E-3816-069C-57A9-59037048212B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38E6575D-2558-04C0-4D07-75B0BDFEE5E3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61CFB4B8-91C5-E60F-F7BC-754CBC25BC17}"/>
              </a:ext>
            </a:extLst>
          </p:cNvPr>
          <p:cNvSpPr txBox="1"/>
          <p:nvPr/>
        </p:nvSpPr>
        <p:spPr>
          <a:xfrm>
            <a:off x="268600" y="1505533"/>
            <a:ext cx="11218550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Experimental Objective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Evaluate whether small, off-the-shelf LLMs can reliably replicate indicator-based human coding proposed in Neo (2020).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Assess the feasibility of using LLMs as </a:t>
            </a:r>
            <a:r>
              <a:rPr lang="en-US" b="1" dirty="0"/>
              <a:t>automated coders</a:t>
            </a:r>
            <a:r>
              <a:rPr lang="en-US" dirty="0"/>
              <a:t> for large-scale analysis of social media text.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Models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Pre-trained instruction-tuned LLMs from </a:t>
            </a:r>
            <a:r>
              <a:rPr lang="en-US" dirty="0" err="1"/>
              <a:t>HuggingFace</a:t>
            </a:r>
            <a:r>
              <a:rPr lang="en-US" dirty="0"/>
              <a:t>: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Qwen2.5-1.5B-Instruct</a:t>
            </a:r>
          </a:p>
          <a:p>
            <a:pPr marL="1314450" lvl="2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TinyLLaMA-1.1B-Chat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No fine-tuning or parameter updates</a:t>
            </a:r>
            <a:br>
              <a:rPr lang="en-US" dirty="0"/>
            </a:br>
            <a:r>
              <a:rPr lang="en-US" dirty="0"/>
              <a:t>→ Zero-shot evaluation</a:t>
            </a:r>
          </a:p>
        </p:txBody>
      </p:sp>
    </p:spTree>
    <p:extLst>
      <p:ext uri="{BB962C8B-B14F-4D97-AF65-F5344CB8AC3E}">
        <p14:creationId xmlns:p14="http://schemas.microsoft.com/office/powerpoint/2010/main" val="1950716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7CB66E7B-708E-CF11-8339-1D671787B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9B49F00B-5F1B-BC03-14A2-7C98F7F1751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910B238-262A-9390-42D5-E074F1E781BC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Outputs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3CB7BB20-C247-9F76-B047-F569C1A507E2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FEBE6-5788-76DE-8C1A-965023736295}"/>
              </a:ext>
            </a:extLst>
          </p:cNvPr>
          <p:cNvSpPr txBox="1"/>
          <p:nvPr/>
        </p:nvSpPr>
        <p:spPr>
          <a:xfrm>
            <a:off x="297961" y="1572540"/>
            <a:ext cx="4372230" cy="4760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"Based on the provided text content:</a:t>
            </a:r>
          </a:p>
          <a:p>
            <a:pPr>
              <a:lnSpc>
                <a:spcPts val="1425"/>
              </a:lnSpc>
              <a:buNone/>
            </a:pPr>
            <a:endParaRPr lang="en-US" sz="1200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**Need:** 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**Individual Significance Loss**: Not Present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**Social Significance Loss**: Not Present</a:t>
            </a: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**Opportunity for Significance Gain**: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**Quest for Significance**: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**Narrative:**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**Violent**: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**Non-Violent**: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**Disagreement with Radical Group(s)**: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**Disagreement with Radical Ideology**: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- **Narrative**: Not Present</a:t>
            </a:r>
            <a:endParaRPr lang="en-US" sz="1200" dirty="0">
              <a:solidFill>
                <a:srgbClr val="EE0000"/>
              </a:solidFill>
              <a:latin typeface="Consolas" panose="020B0609020204030204" pitchFamily="49" charset="0"/>
            </a:endParaRPr>
          </a:p>
          <a:p>
            <a:pPr marL="285750" indent="-285750">
              <a:lnSpc>
                <a:spcPts val="1425"/>
              </a:lnSpc>
              <a:buFontTx/>
              <a:buChar char="-"/>
            </a:pPr>
            <a:endParaRPr lang="en-US" sz="1200" b="0" dirty="0">
              <a:solidFill>
                <a:srgbClr val="EE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The text does not contain any significant indicators related to individual significance loss, social significance loss, opportunity for significance gain, quest for significance, violent narratives, non-violent narratives, disagreement with radical groups, or ideological disagreements. Therefore, all indicators are marked as 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Present.</a:t>
            </a:r>
            <a:r>
              <a:rPr lang="en-US" sz="12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91A1CFF2-EB19-B3B9-6C65-B2CA685F150D}"/>
              </a:ext>
            </a:extLst>
          </p:cNvPr>
          <p:cNvSpPr txBox="1"/>
          <p:nvPr/>
        </p:nvSpPr>
        <p:spPr>
          <a:xfrm>
            <a:off x="5164666" y="1505533"/>
            <a:ext cx="632248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Natural Language Output Instead of Structured Format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Indicator Granularity Collapse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Over-Explanation Bias</a:t>
            </a:r>
          </a:p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Root Causes: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b="1" dirty="0"/>
              <a:t>Insufficient constraint </a:t>
            </a:r>
            <a:r>
              <a:rPr lang="en-US" dirty="0"/>
              <a:t>on output format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LLM default </a:t>
            </a:r>
            <a:r>
              <a:rPr lang="en-US" dirty="0" err="1"/>
              <a:t>behaviour</a:t>
            </a:r>
            <a:r>
              <a:rPr lang="en-US" dirty="0"/>
              <a:t> favors: </a:t>
            </a:r>
            <a:r>
              <a:rPr lang="en-US" b="1" dirty="0" err="1"/>
              <a:t>Summarisation</a:t>
            </a:r>
            <a:r>
              <a:rPr lang="en-US" dirty="0"/>
              <a:t> and Human-readable explanations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b="1" dirty="0"/>
              <a:t>Small models </a:t>
            </a:r>
            <a:r>
              <a:rPr lang="en-US" dirty="0"/>
              <a:t>are especially prone to instruction drift</a:t>
            </a:r>
          </a:p>
          <a:p>
            <a:pPr marL="40005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Solution: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SG" dirty="0"/>
              <a:t>Strict Output Enforcement: </a:t>
            </a:r>
            <a:r>
              <a:rPr lang="en-SG" b="1" dirty="0"/>
              <a:t>JSON-only output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Reject or re-query outputs that fail schema validation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Decreasing </a:t>
            </a:r>
            <a:r>
              <a:rPr lang="en-US" dirty="0" err="1"/>
              <a:t>temprature</a:t>
            </a:r>
            <a:r>
              <a:rPr lang="en-US" dirty="0"/>
              <a:t>.</a:t>
            </a:r>
            <a:endParaRPr lang="en-SG" dirty="0"/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632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A5DEF168-4948-4333-D62E-599D3668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22B2D488-AD75-19DD-E23F-4A83FEAB19BC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541D0DD4-24D4-77D9-F906-FFC797598633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LLM Outputs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C90B2E14-0F11-EAA3-7AC4-052059FD2173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Prompt Design &amp; LLM-based Validation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818D3B-5691-504D-274F-D123E6D97A40}"/>
              </a:ext>
            </a:extLst>
          </p:cNvPr>
          <p:cNvSpPr txBox="1"/>
          <p:nvPr/>
        </p:nvSpPr>
        <p:spPr>
          <a:xfrm>
            <a:off x="306428" y="1538550"/>
            <a:ext cx="11813139" cy="4931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 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Interpersonal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Career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Radical Activities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Health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Finances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Education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Self-esteem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Individual Significance Loss: Others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Radical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Non-radical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Social Significance Loss: Non-religious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Leadership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Martyrdom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Vengeance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Career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Interpersonal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Religious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Educational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Training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Radical Activities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Opportunity for Significance Gain: Miscellaneous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Radical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Non-radical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Dualistic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Need: Quest for Significance: Competing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},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{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Necessity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Allowability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Salafi Jihadism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Takfiri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Jihad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qital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Violent: Martyrdom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Thogut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Baiat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Muslim Brotherhood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Salafi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Jihad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Rida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Non-Violent: Political Views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Military/violent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Political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Strategies/Methods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Group(s)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Religious aspects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Takfiri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Salafi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Disagreement with Radical Ideology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Thogut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Religious Historical References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Differences among Radical Groups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Narrative: Unspecified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 Present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\"\n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  }</a:t>
            </a:r>
            <a:r>
              <a:rPr lang="en-SG" sz="1100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SG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 }"</a:t>
            </a:r>
            <a:endParaRPr lang="en-SG" sz="11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01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18EBEDE7-EC47-DE7B-957C-B37238AC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8">
            <a:extLst>
              <a:ext uri="{FF2B5EF4-FFF2-40B4-BE49-F238E27FC236}">
                <a16:creationId xmlns:a16="http://schemas.microsoft.com/office/drawing/2014/main" id="{A3947DEB-B6C8-7EC6-E342-B86CC818586D}"/>
              </a:ext>
            </a:extLst>
          </p:cNvPr>
          <p:cNvCxnSpPr/>
          <p:nvPr/>
        </p:nvCxnSpPr>
        <p:spPr>
          <a:xfrm>
            <a:off x="152401" y="1020626"/>
            <a:ext cx="11887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59" name="Google Shape;59;p8">
            <a:extLst>
              <a:ext uri="{FF2B5EF4-FFF2-40B4-BE49-F238E27FC236}">
                <a16:creationId xmlns:a16="http://schemas.microsoft.com/office/drawing/2014/main" id="{6448B66A-1136-DC9E-C72F-A6A73DDBFA9A}"/>
              </a:ext>
            </a:extLst>
          </p:cNvPr>
          <p:cNvSpPr txBox="1"/>
          <p:nvPr/>
        </p:nvSpPr>
        <p:spPr>
          <a:xfrm>
            <a:off x="297961" y="1014619"/>
            <a:ext cx="103677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  <a:endParaRPr lang="en-US" sz="1800" i="1" dirty="0">
              <a:solidFill>
                <a:schemeClr val="dk1"/>
              </a:solidFill>
            </a:endParaRPr>
          </a:p>
        </p:txBody>
      </p:sp>
      <p:sp>
        <p:nvSpPr>
          <p:cNvPr id="60" name="Google Shape;60;p8">
            <a:extLst>
              <a:ext uri="{FF2B5EF4-FFF2-40B4-BE49-F238E27FC236}">
                <a16:creationId xmlns:a16="http://schemas.microsoft.com/office/drawing/2014/main" id="{695E8423-A4C6-6404-EEC0-84963F08931C}"/>
              </a:ext>
            </a:extLst>
          </p:cNvPr>
          <p:cNvSpPr txBox="1"/>
          <p:nvPr/>
        </p:nvSpPr>
        <p:spPr>
          <a:xfrm>
            <a:off x="268600" y="430275"/>
            <a:ext cx="118425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Next weeks’ work</a:t>
            </a:r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4202C594-029B-5112-529C-232044E052B2}"/>
              </a:ext>
            </a:extLst>
          </p:cNvPr>
          <p:cNvSpPr txBox="1"/>
          <p:nvPr/>
        </p:nvSpPr>
        <p:spPr>
          <a:xfrm>
            <a:off x="268600" y="1505533"/>
            <a:ext cx="112185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0050" lvl="0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Evaluation Target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Measure the agreement between LLM-based coding and human annotations</a:t>
            </a:r>
          </a:p>
          <a:p>
            <a:pPr marL="857250" lvl="1" indent="-285750">
              <a:spcBef>
                <a:spcPts val="600"/>
              </a:spcBef>
              <a:buClr>
                <a:schemeClr val="dk1"/>
              </a:buClr>
              <a:buSzPts val="1800"/>
              <a:buFontTx/>
              <a:buChar char="-"/>
            </a:pPr>
            <a:r>
              <a:rPr lang="en-US" dirty="0"/>
              <a:t>Evaluation is conducted at the indicator level, consistent with Neo (2020)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6C2DBD-4442-C041-1A31-83B0AAB70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554367"/>
              </p:ext>
            </p:extLst>
          </p:nvPr>
        </p:nvGraphicFramePr>
        <p:xfrm>
          <a:off x="362078" y="2687320"/>
          <a:ext cx="828236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5260">
                  <a:extLst>
                    <a:ext uri="{9D8B030D-6E8A-4147-A177-3AD203B41FA5}">
                      <a16:colId xmlns:a16="http://schemas.microsoft.com/office/drawing/2014/main" val="115550424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879823189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1791028366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1069082657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27165613"/>
                    </a:ext>
                  </a:extLst>
                </a:gridCol>
                <a:gridCol w="1235077">
                  <a:extLst>
                    <a:ext uri="{9D8B030D-6E8A-4147-A177-3AD203B41FA5}">
                      <a16:colId xmlns:a16="http://schemas.microsoft.com/office/drawing/2014/main" val="152874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/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600" dirty="0"/>
                        <a:t>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133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 dirty="0"/>
                        <a:t>Qwen2.5-1.5B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917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 dirty="0"/>
                        <a:t>TinyLLaMA-1.1B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69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1600" dirty="0"/>
                        <a:t>Mistral-7B (opt.)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SG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041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06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</TotalTime>
  <Words>2710</Words>
  <Application>Microsoft Office PowerPoint</Application>
  <PresentationFormat>Widescreen</PresentationFormat>
  <Paragraphs>375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Consolas</vt:lpstr>
      <vt:lpstr>Office Theme</vt:lpstr>
      <vt:lpstr>Research on AI for Radicalisation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Nanyang Technological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Shanghong</dc:creator>
  <cp:lastModifiedBy>Li Shanghong</cp:lastModifiedBy>
  <cp:revision>74</cp:revision>
  <dcterms:created xsi:type="dcterms:W3CDTF">2026-01-11T16:20:52Z</dcterms:created>
  <dcterms:modified xsi:type="dcterms:W3CDTF">2026-01-14T09:31:15Z</dcterms:modified>
</cp:coreProperties>
</file>